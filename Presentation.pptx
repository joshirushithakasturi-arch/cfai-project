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322" r:id="rId5"/>
    <p:sldId id="321" r:id="rId6"/>
    <p:sldId id="323" r:id="rId7"/>
    <p:sldId id="315" r:id="rId8"/>
    <p:sldId id="328" r:id="rId9"/>
    <p:sldId id="325" r:id="rId10"/>
    <p:sldId id="326" r:id="rId11"/>
    <p:sldId id="32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E15886-3912-4BC6-B920-06258A93BC52}" v="190" dt="2026-05-19T07:39:14.297"/>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5388" autoAdjust="0"/>
  </p:normalViewPr>
  <p:slideViewPr>
    <p:cSldViewPr snapToGrid="0">
      <p:cViewPr>
        <p:scale>
          <a:sx n="100" d="100"/>
          <a:sy n="100" d="100"/>
        </p:scale>
        <p:origin x="-610" y="-533"/>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6/2/2026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6/2/2026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dirty="0"/>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dirty="0"/>
              <a:t>Click icon to add picture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dirty="0"/>
              <a:t>Click icon to add picture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dirty="0"/>
              <a:t>Click icon to add table</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dirty="0"/>
              <a:t>Click icon to add table</a:t>
            </a:r>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086271" y="2448027"/>
            <a:ext cx="9399229" cy="3495573"/>
          </a:xfrm>
        </p:spPr>
        <p:txBody>
          <a:bodyPr/>
          <a:lstStyle/>
          <a:p>
            <a:r>
              <a:rPr lang="en-US" b="1" dirty="0"/>
              <a:t> </a:t>
            </a:r>
            <a:r>
              <a:rPr lang="en-US" b="1"/>
              <a:t>Fault Diagnosis in Industrial Systems</a:t>
            </a:r>
          </a:p>
          <a:p>
            <a:endParaRPr lang="en-US"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186191" y="244508"/>
            <a:ext cx="9812779" cy="812001"/>
          </a:xfrm>
        </p:spPr>
        <p:txBody>
          <a:bodyPr/>
          <a:lstStyle/>
          <a:p>
            <a:r>
              <a:rPr lang="en-GB" b="1"/>
              <a:t>Abstract:</a:t>
            </a:r>
            <a:endParaRPr lang="en-US" b="1" dirty="0"/>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
        <p:nvSpPr>
          <p:cNvPr id="7" name="TextBox 6">
            <a:extLst>
              <a:ext uri="{FF2B5EF4-FFF2-40B4-BE49-F238E27FC236}">
                <a16:creationId xmlns:a16="http://schemas.microsoft.com/office/drawing/2014/main" id="{64F06ED4-0E8E-B6E2-CB84-87BEBEF6AD62}"/>
              </a:ext>
            </a:extLst>
          </p:cNvPr>
          <p:cNvSpPr txBox="1"/>
          <p:nvPr/>
        </p:nvSpPr>
        <p:spPr>
          <a:xfrm>
            <a:off x="1400848" y="1716423"/>
            <a:ext cx="10429394"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latin typeface="Aptos Display"/>
                <a:ea typeface="+mn-lt"/>
                <a:cs typeface="+mn-lt"/>
              </a:rPr>
              <a:t>Industrial systems are highly dependent on continuous and reliable machine operation. Unexpected faults in equipment such as motors, bearings, pressure systems, and sensors can lead to production loss, increased maintenance cost, and safety risks. This project presents an intelligent Fault Diagnosis System using Python and Machine Learning techniques to detect and </a:t>
            </a:r>
            <a:r>
              <a:rPr lang="en-GB" sz="2000" dirty="0" err="1">
                <a:latin typeface="Aptos Display"/>
                <a:ea typeface="+mn-lt"/>
                <a:cs typeface="+mn-lt"/>
              </a:rPr>
              <a:t>analyze</a:t>
            </a:r>
            <a:r>
              <a:rPr lang="en-GB" sz="2000" dirty="0">
                <a:latin typeface="Aptos Display"/>
                <a:ea typeface="+mn-lt"/>
                <a:cs typeface="+mn-lt"/>
              </a:rPr>
              <a:t> faults in industrial environments.</a:t>
            </a:r>
            <a:endParaRPr lang="en-US" sz="2000">
              <a:latin typeface="Aptos Display"/>
            </a:endParaRPr>
          </a:p>
          <a:p>
            <a:r>
              <a:rPr lang="en-GB" sz="2000" dirty="0">
                <a:latin typeface="Aptos Display"/>
                <a:ea typeface="+mn-lt"/>
                <a:cs typeface="+mn-lt"/>
              </a:rPr>
              <a:t>The system uses simulated real-time sensor data including temperature, vibration, and pressure values to monitor machine conditions. A Random Forest Machine Learning model is trained using normal and faulty operational data to classify whether the system is operating normally or experiencing a fault. When a fault is detected, the system further performs fault analysis by identifying the type of fault, locating the possible fault area, and predicting its impact on the industrial system.</a:t>
            </a:r>
            <a:endParaRPr lang="en-GB" sz="2000">
              <a:latin typeface="Aptos Display"/>
            </a:endParaRPr>
          </a:p>
          <a:p>
            <a:pPr algn="l"/>
            <a:endParaRPr lang="en-GB"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D14E-7F00-CC56-48BD-99600CE20F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F370B6-062B-CA1A-A9CE-14BC27D3B3EB}"/>
              </a:ext>
            </a:extLst>
          </p:cNvPr>
          <p:cNvSpPr>
            <a:spLocks noGrp="1"/>
          </p:cNvSpPr>
          <p:nvPr>
            <p:ph type="sldNum" sz="quarter" idx="15"/>
          </p:nvPr>
        </p:nvSpPr>
        <p:spPr/>
        <p:txBody>
          <a:bodyPr/>
          <a:lstStyle/>
          <a:p>
            <a:fld id="{18D65601-5AE2-46FC-B138-694DDD2B510D}" type="slidenum">
              <a:rPr lang="en-US" smtClean="0"/>
              <a:pPr/>
              <a:t>3</a:t>
            </a:fld>
            <a:endParaRPr lang="en-US" dirty="0"/>
          </a:p>
        </p:txBody>
      </p:sp>
      <p:sp>
        <p:nvSpPr>
          <p:cNvPr id="7" name="TextBox 6">
            <a:extLst>
              <a:ext uri="{FF2B5EF4-FFF2-40B4-BE49-F238E27FC236}">
                <a16:creationId xmlns:a16="http://schemas.microsoft.com/office/drawing/2014/main" id="{7F8F24FC-4A0C-4D3E-E393-D3ECCC051678}"/>
              </a:ext>
            </a:extLst>
          </p:cNvPr>
          <p:cNvSpPr txBox="1"/>
          <p:nvPr/>
        </p:nvSpPr>
        <p:spPr>
          <a:xfrm>
            <a:off x="1400848" y="1716423"/>
            <a:ext cx="10429394" cy="28315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latin typeface="Aptos Display"/>
                <a:ea typeface="+mn-lt"/>
                <a:cs typeface="+mn-lt"/>
              </a:rPr>
              <a:t>The project also incorporates rule-based reasoning and decision-making concepts to enhance explainability and accuracy. A menu-driven interface allows users to interactively detect faults, view all fault types, and </a:t>
            </a:r>
            <a:r>
              <a:rPr lang="en-GB" sz="2000" dirty="0" err="1">
                <a:latin typeface="Aptos Display"/>
                <a:ea typeface="+mn-lt"/>
                <a:cs typeface="+mn-lt"/>
              </a:rPr>
              <a:t>analyze</a:t>
            </a:r>
            <a:r>
              <a:rPr lang="en-GB" sz="2000" dirty="0">
                <a:latin typeface="Aptos Display"/>
                <a:ea typeface="+mn-lt"/>
                <a:cs typeface="+mn-lt"/>
              </a:rPr>
              <a:t> system conditions. The proposed system combines Artificial Intelligence concepts such as heuristic reasoning, probabilistic learning, decision logic, and hybrid intelligent systems.</a:t>
            </a:r>
            <a:endParaRPr lang="en-US">
              <a:latin typeface="Aptos Display"/>
              <a:ea typeface="+mn-lt"/>
              <a:cs typeface="+mn-lt"/>
            </a:endParaRPr>
          </a:p>
          <a:p>
            <a:r>
              <a:rPr lang="en-GB" sz="2000" dirty="0">
                <a:latin typeface="Aptos Display"/>
                <a:ea typeface="+mn-lt"/>
                <a:cs typeface="+mn-lt"/>
              </a:rPr>
              <a:t>This project demonstrates how Machine Learning and AI techniques can improve predictive maintenance, reduce downtime, increase safety, and support smart industrial automation systems.</a:t>
            </a:r>
            <a:endParaRPr lang="en-GB" dirty="0">
              <a:latin typeface="Aptos Display"/>
              <a:ea typeface="+mn-lt"/>
              <a:cs typeface="+mn-lt"/>
            </a:endParaRPr>
          </a:p>
          <a:p>
            <a:endParaRPr lang="en-GB" sz="2000" dirty="0">
              <a:latin typeface="Aptos Display"/>
            </a:endParaRPr>
          </a:p>
          <a:p>
            <a:pPr algn="l"/>
            <a:endParaRPr lang="en-GB" dirty="0"/>
          </a:p>
        </p:txBody>
      </p:sp>
    </p:spTree>
    <p:extLst>
      <p:ext uri="{BB962C8B-B14F-4D97-AF65-F5344CB8AC3E}">
        <p14:creationId xmlns:p14="http://schemas.microsoft.com/office/powerpoint/2010/main" val="3193666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5354-374E-4710-792F-592E588BAAE2}"/>
              </a:ext>
            </a:extLst>
          </p:cNvPr>
          <p:cNvSpPr>
            <a:spLocks noGrp="1"/>
          </p:cNvSpPr>
          <p:nvPr>
            <p:ph type="title"/>
          </p:nvPr>
        </p:nvSpPr>
        <p:spPr>
          <a:xfrm>
            <a:off x="1468814" y="503852"/>
            <a:ext cx="9808773" cy="1427585"/>
          </a:xfrm>
        </p:spPr>
        <p:txBody>
          <a:bodyPr/>
          <a:lstStyle/>
          <a:p>
            <a:r>
              <a:rPr lang="en-US" b="1">
                <a:ea typeface="+mj-lt"/>
                <a:cs typeface="+mj-lt"/>
              </a:rPr>
              <a:t>Plan of Action:</a:t>
            </a:r>
            <a:endParaRPr lang="en-US" b="1"/>
          </a:p>
        </p:txBody>
      </p:sp>
      <p:sp>
        <p:nvSpPr>
          <p:cNvPr id="4" name="Content Placeholder 3">
            <a:extLst>
              <a:ext uri="{FF2B5EF4-FFF2-40B4-BE49-F238E27FC236}">
                <a16:creationId xmlns:a16="http://schemas.microsoft.com/office/drawing/2014/main" id="{685D951B-D6C0-AB0A-0FFD-23670BE643EE}"/>
              </a:ext>
            </a:extLst>
          </p:cNvPr>
          <p:cNvSpPr>
            <a:spLocks noGrp="1"/>
          </p:cNvSpPr>
          <p:nvPr>
            <p:ph sz="quarter" idx="12"/>
          </p:nvPr>
        </p:nvSpPr>
        <p:spPr>
          <a:xfrm>
            <a:off x="1422634" y="2057401"/>
            <a:ext cx="6486131" cy="4165644"/>
          </a:xfrm>
        </p:spPr>
        <p:txBody>
          <a:bodyPr vert="horz" lIns="0" tIns="45720" rIns="91440" bIns="45720" rtlCol="0" anchor="t">
            <a:normAutofit/>
          </a:bodyPr>
          <a:lstStyle/>
          <a:p>
            <a:pPr>
              <a:buNone/>
            </a:pPr>
            <a:r>
              <a:rPr lang="en-US" b="1">
                <a:latin typeface="Aptos Display"/>
              </a:rPr>
              <a:t>Phase 1: Requirement Analysis</a:t>
            </a:r>
          </a:p>
          <a:p>
            <a:r>
              <a:rPr lang="en-US">
                <a:latin typeface="Aptos Display"/>
                <a:ea typeface="+mn-lt"/>
                <a:cs typeface="+mn-lt"/>
              </a:rPr>
              <a:t>Study industrial fault diagnosis systems </a:t>
            </a:r>
            <a:endParaRPr lang="en-US">
              <a:latin typeface="Aptos Display"/>
            </a:endParaRPr>
          </a:p>
          <a:p>
            <a:r>
              <a:rPr lang="en-US" dirty="0">
                <a:latin typeface="Aptos Display"/>
                <a:ea typeface="+mn-lt"/>
                <a:cs typeface="+mn-lt"/>
              </a:rPr>
              <a:t>Identify important sensor parameters: </a:t>
            </a:r>
            <a:endParaRPr lang="en-US">
              <a:latin typeface="Aptos Display"/>
            </a:endParaRPr>
          </a:p>
          <a:p>
            <a:pPr marL="800100" lvl="1" indent="-342900"/>
            <a:r>
              <a:rPr lang="en-US">
                <a:latin typeface="Aptos Display"/>
                <a:ea typeface="+mn-lt"/>
                <a:cs typeface="+mn-lt"/>
              </a:rPr>
              <a:t>Temperature </a:t>
            </a:r>
            <a:endParaRPr lang="en-US">
              <a:latin typeface="Aptos Display"/>
            </a:endParaRPr>
          </a:p>
          <a:p>
            <a:pPr marL="800100" lvl="1" indent="-342900"/>
            <a:r>
              <a:rPr lang="en-US">
                <a:latin typeface="Aptos Display"/>
                <a:ea typeface="+mn-lt"/>
                <a:cs typeface="+mn-lt"/>
              </a:rPr>
              <a:t>Vibration </a:t>
            </a:r>
            <a:endParaRPr lang="en-US">
              <a:latin typeface="Aptos Display"/>
            </a:endParaRPr>
          </a:p>
          <a:p>
            <a:pPr marL="800100" lvl="1" indent="-342900"/>
            <a:r>
              <a:rPr lang="en-US">
                <a:latin typeface="Aptos Display"/>
                <a:ea typeface="+mn-lt"/>
                <a:cs typeface="+mn-lt"/>
              </a:rPr>
              <a:t>Pressure </a:t>
            </a:r>
            <a:endParaRPr lang="en-US">
              <a:latin typeface="Aptos Display"/>
            </a:endParaRPr>
          </a:p>
          <a:p>
            <a:r>
              <a:rPr lang="en-US" dirty="0">
                <a:latin typeface="Aptos Display"/>
                <a:ea typeface="+mn-lt"/>
                <a:cs typeface="+mn-lt"/>
              </a:rPr>
              <a:t>Define project objectives and outputs </a:t>
            </a:r>
            <a:endParaRPr lang="en-US" dirty="0">
              <a:latin typeface="Aptos Display"/>
            </a:endParaRPr>
          </a:p>
          <a:p>
            <a:pPr marL="0" indent="0">
              <a:buNone/>
            </a:pPr>
            <a:endParaRPr lang="en-US" dirty="0"/>
          </a:p>
        </p:txBody>
      </p:sp>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p:txBody>
          <a:bodyPr/>
          <a:lstStyle/>
          <a:p>
            <a:fld id="{18D65601-5AE2-46FC-B138-694DDD2B510D}" type="slidenum">
              <a:rPr lang="en-US" smtClean="0"/>
              <a:pPr/>
              <a:t>4</a:t>
            </a:fld>
            <a:endParaRPr lang="en-US" dirty="0"/>
          </a:p>
        </p:txBody>
      </p:sp>
    </p:spTree>
    <p:extLst>
      <p:ext uri="{BB962C8B-B14F-4D97-AF65-F5344CB8AC3E}">
        <p14:creationId xmlns:p14="http://schemas.microsoft.com/office/powerpoint/2010/main" val="2302010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ACCB9-134A-3D58-D342-5F83A7E1342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5AAFBA-AB4B-B879-1743-013C8DCFDCFF}"/>
              </a:ext>
            </a:extLst>
          </p:cNvPr>
          <p:cNvSpPr>
            <a:spLocks noGrp="1"/>
          </p:cNvSpPr>
          <p:nvPr>
            <p:ph type="sldNum" sz="quarter" idx="15"/>
          </p:nvPr>
        </p:nvSpPr>
        <p:spPr/>
        <p:txBody>
          <a:bodyPr/>
          <a:lstStyle/>
          <a:p>
            <a:fld id="{18D65601-5AE2-46FC-B138-694DDD2B510D}" type="slidenum">
              <a:rPr lang="en-US" smtClean="0"/>
              <a:pPr/>
              <a:t>5</a:t>
            </a:fld>
            <a:endParaRPr lang="en-US" dirty="0"/>
          </a:p>
        </p:txBody>
      </p:sp>
      <p:sp>
        <p:nvSpPr>
          <p:cNvPr id="9" name="TextBox 8">
            <a:extLst>
              <a:ext uri="{FF2B5EF4-FFF2-40B4-BE49-F238E27FC236}">
                <a16:creationId xmlns:a16="http://schemas.microsoft.com/office/drawing/2014/main" id="{5BFA0BBA-A469-1193-6963-07F9A08839EB}"/>
              </a:ext>
            </a:extLst>
          </p:cNvPr>
          <p:cNvSpPr txBox="1"/>
          <p:nvPr/>
        </p:nvSpPr>
        <p:spPr>
          <a:xfrm>
            <a:off x="1585575" y="1262303"/>
            <a:ext cx="7619876"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Display"/>
              </a:rPr>
              <a:t>Phase 2: Data Collection &amp; Preparation</a:t>
            </a:r>
            <a:endParaRPr lang="en-US" b="1">
              <a:latin typeface="Aptos Display"/>
            </a:endParaRPr>
          </a:p>
          <a:p>
            <a:pPr marL="285750" indent="-285750">
              <a:buFont typeface="Arial"/>
              <a:buChar char="•"/>
            </a:pPr>
            <a:r>
              <a:rPr lang="en-GB">
                <a:latin typeface="Aptos Display"/>
                <a:ea typeface="+mn-lt"/>
                <a:cs typeface="+mn-lt"/>
              </a:rPr>
              <a:t>Generate/simulate normal and faulty sensor data </a:t>
            </a:r>
            <a:endParaRPr lang="en-US">
              <a:latin typeface="Aptos Display"/>
            </a:endParaRPr>
          </a:p>
          <a:p>
            <a:pPr marL="285750" indent="-285750">
              <a:buFont typeface="Arial"/>
              <a:buChar char="•"/>
            </a:pPr>
            <a:r>
              <a:rPr lang="en-GB" dirty="0">
                <a:latin typeface="Aptos Display"/>
                <a:ea typeface="+mn-lt"/>
                <a:cs typeface="+mn-lt"/>
              </a:rPr>
              <a:t>Organize data using Pandas </a:t>
            </a:r>
            <a:r>
              <a:rPr lang="en-GB" dirty="0" err="1">
                <a:latin typeface="Aptos Display"/>
                <a:ea typeface="+mn-lt"/>
                <a:cs typeface="+mn-lt"/>
              </a:rPr>
              <a:t>DataFrames</a:t>
            </a:r>
            <a:r>
              <a:rPr lang="en-GB" dirty="0">
                <a:latin typeface="Aptos Display"/>
                <a:ea typeface="+mn-lt"/>
                <a:cs typeface="+mn-lt"/>
              </a:rPr>
              <a:t> </a:t>
            </a:r>
            <a:endParaRPr lang="en-GB">
              <a:latin typeface="Aptos Display"/>
            </a:endParaRPr>
          </a:p>
          <a:p>
            <a:pPr marL="285750" indent="-285750">
              <a:buFont typeface="Arial"/>
              <a:buChar char="•"/>
            </a:pPr>
            <a:r>
              <a:rPr lang="en-GB">
                <a:latin typeface="Aptos Display"/>
                <a:ea typeface="+mn-lt"/>
                <a:cs typeface="+mn-lt"/>
              </a:rPr>
              <a:t>Label data as: </a:t>
            </a:r>
            <a:endParaRPr lang="en-GB">
              <a:latin typeface="Aptos Display"/>
            </a:endParaRPr>
          </a:p>
          <a:p>
            <a:pPr marL="742950" lvl="1" indent="-285750">
              <a:buFont typeface="Arial"/>
              <a:buChar char="•"/>
            </a:pPr>
            <a:r>
              <a:rPr lang="en-GB">
                <a:latin typeface="Aptos Display"/>
                <a:ea typeface="+mn-lt"/>
                <a:cs typeface="+mn-lt"/>
              </a:rPr>
              <a:t>Normal </a:t>
            </a:r>
            <a:endParaRPr lang="en-GB">
              <a:latin typeface="Aptos Display"/>
            </a:endParaRPr>
          </a:p>
          <a:p>
            <a:pPr marL="742950" lvl="1" indent="-285750">
              <a:buFont typeface="Arial"/>
              <a:buChar char="•"/>
            </a:pPr>
            <a:r>
              <a:rPr lang="en-GB">
                <a:latin typeface="Aptos Display"/>
                <a:ea typeface="+mn-lt"/>
                <a:cs typeface="+mn-lt"/>
              </a:rPr>
              <a:t>Fault </a:t>
            </a:r>
            <a:endParaRPr lang="en-GB">
              <a:latin typeface="Aptos Display"/>
            </a:endParaRPr>
          </a:p>
          <a:p>
            <a:pPr lvl="1"/>
            <a:br>
              <a:rPr lang="en-US" dirty="0"/>
            </a:br>
            <a:endParaRPr lang="en-US">
              <a:latin typeface="Aptos Display"/>
            </a:endParaRPr>
          </a:p>
          <a:p>
            <a:pPr lvl="1"/>
            <a:r>
              <a:rPr lang="en-GB" b="1">
                <a:latin typeface="Aptos Display"/>
              </a:rPr>
              <a:t>Phase 3: Machine Learning Model Development</a:t>
            </a:r>
            <a:endParaRPr lang="en-US" b="1">
              <a:latin typeface="Aptos Display"/>
            </a:endParaRPr>
          </a:p>
          <a:p>
            <a:pPr marL="285750" indent="-285750">
              <a:buFont typeface="Arial"/>
              <a:buChar char="•"/>
            </a:pPr>
            <a:r>
              <a:rPr lang="en-GB">
                <a:latin typeface="Aptos Display"/>
                <a:ea typeface="+mn-lt"/>
                <a:cs typeface="+mn-lt"/>
              </a:rPr>
              <a:t>Split dataset into training and testing data </a:t>
            </a:r>
            <a:endParaRPr lang="en-GB">
              <a:latin typeface="Aptos Display"/>
            </a:endParaRPr>
          </a:p>
          <a:p>
            <a:pPr marL="285750" indent="-285750">
              <a:buFont typeface="Arial"/>
              <a:buChar char="•"/>
            </a:pPr>
            <a:r>
              <a:rPr lang="en-GB">
                <a:latin typeface="Aptos Display"/>
                <a:ea typeface="+mn-lt"/>
                <a:cs typeface="+mn-lt"/>
              </a:rPr>
              <a:t>Train Random Forest Classifier </a:t>
            </a:r>
            <a:endParaRPr lang="en-GB">
              <a:latin typeface="Aptos Display"/>
            </a:endParaRPr>
          </a:p>
          <a:p>
            <a:pPr marL="285750" indent="-285750">
              <a:buFont typeface="Arial"/>
              <a:buChar char="•"/>
            </a:pPr>
            <a:r>
              <a:rPr lang="en-GB">
                <a:latin typeface="Aptos Display"/>
                <a:ea typeface="+mn-lt"/>
                <a:cs typeface="+mn-lt"/>
              </a:rPr>
              <a:t>Test prediction accuracy </a:t>
            </a:r>
            <a:endParaRPr lang="en-GB">
              <a:latin typeface="Aptos Display"/>
            </a:endParaRPr>
          </a:p>
          <a:p>
            <a:pPr marL="285750" indent="-285750">
              <a:buFont typeface="Arial"/>
              <a:buChar char="•"/>
            </a:pPr>
            <a:r>
              <a:rPr lang="en-GB">
                <a:latin typeface="Aptos Display"/>
                <a:ea typeface="+mn-lt"/>
                <a:cs typeface="+mn-lt"/>
              </a:rPr>
              <a:t>Implement real-time prediction system</a:t>
            </a:r>
          </a:p>
          <a:p>
            <a:endParaRPr lang="en-GB" b="1" dirty="0">
              <a:latin typeface="Aptos Display"/>
              <a:ea typeface="+mn-lt"/>
              <a:cs typeface="+mn-lt"/>
            </a:endParaRPr>
          </a:p>
          <a:p>
            <a:endParaRPr lang="en-GB" sz="2000" dirty="0">
              <a:latin typeface="Aptos Display"/>
            </a:endParaRPr>
          </a:p>
          <a:p>
            <a:pPr algn="l"/>
            <a:endParaRPr lang="en-GB" dirty="0"/>
          </a:p>
        </p:txBody>
      </p:sp>
    </p:spTree>
    <p:extLst>
      <p:ext uri="{BB962C8B-B14F-4D97-AF65-F5344CB8AC3E}">
        <p14:creationId xmlns:p14="http://schemas.microsoft.com/office/powerpoint/2010/main" val="1174035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E404F-652E-209A-567A-C9A8912A9F7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5A24A8D-06E7-0900-6FF3-A801C3DF28B0}"/>
              </a:ext>
            </a:extLst>
          </p:cNvPr>
          <p:cNvSpPr>
            <a:spLocks noGrp="1"/>
          </p:cNvSpPr>
          <p:nvPr>
            <p:ph type="sldNum" sz="quarter" idx="15"/>
          </p:nvPr>
        </p:nvSpPr>
        <p:spPr/>
        <p:txBody>
          <a:bodyPr/>
          <a:lstStyle/>
          <a:p>
            <a:fld id="{18D65601-5AE2-46FC-B138-694DDD2B510D}" type="slidenum">
              <a:rPr lang="en-US" smtClean="0"/>
              <a:pPr/>
              <a:t>6</a:t>
            </a:fld>
            <a:endParaRPr lang="en-US" dirty="0"/>
          </a:p>
        </p:txBody>
      </p:sp>
      <p:sp>
        <p:nvSpPr>
          <p:cNvPr id="9" name="TextBox 8">
            <a:extLst>
              <a:ext uri="{FF2B5EF4-FFF2-40B4-BE49-F238E27FC236}">
                <a16:creationId xmlns:a16="http://schemas.microsoft.com/office/drawing/2014/main" id="{D9FD3963-6FC1-DC5E-1899-B5658B8CFADE}"/>
              </a:ext>
            </a:extLst>
          </p:cNvPr>
          <p:cNvSpPr txBox="1"/>
          <p:nvPr/>
        </p:nvSpPr>
        <p:spPr>
          <a:xfrm>
            <a:off x="1585575" y="1262303"/>
            <a:ext cx="10606424"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Display"/>
              </a:rPr>
              <a:t>Phase 4: Fault Analysis Module</a:t>
            </a:r>
            <a:endParaRPr lang="en-US" b="1">
              <a:latin typeface="Aptos Display"/>
            </a:endParaRPr>
          </a:p>
          <a:p>
            <a:r>
              <a:rPr lang="en-GB" sz="2000">
                <a:latin typeface="Aptos Display"/>
                <a:ea typeface="+mn-lt"/>
                <a:cs typeface="+mn-lt"/>
              </a:rPr>
              <a:t>Develop modules for:</a:t>
            </a:r>
            <a:endParaRPr lang="en-US">
              <a:latin typeface="Aptos Display"/>
            </a:endParaRPr>
          </a:p>
          <a:p>
            <a:pPr marL="285750" indent="-285750">
              <a:buFont typeface="Arial"/>
              <a:buChar char="•"/>
            </a:pPr>
            <a:r>
              <a:rPr lang="en-GB" sz="2000">
                <a:latin typeface="Aptos Display"/>
                <a:ea typeface="+mn-lt"/>
                <a:cs typeface="+mn-lt"/>
              </a:rPr>
              <a:t>Detecting whether fault exists </a:t>
            </a:r>
            <a:endParaRPr lang="en-GB">
              <a:latin typeface="Aptos Display"/>
            </a:endParaRPr>
          </a:p>
          <a:p>
            <a:pPr marL="285750" indent="-285750">
              <a:buFont typeface="Arial"/>
              <a:buChar char="•"/>
            </a:pPr>
            <a:r>
              <a:rPr lang="en-GB" sz="2000" dirty="0">
                <a:latin typeface="Aptos Display"/>
                <a:ea typeface="+mn-lt"/>
                <a:cs typeface="+mn-lt"/>
              </a:rPr>
              <a:t>Identifying fault type </a:t>
            </a:r>
            <a:endParaRPr lang="en-GB" dirty="0">
              <a:latin typeface="Aptos Display"/>
            </a:endParaRPr>
          </a:p>
          <a:p>
            <a:pPr marL="285750" indent="-285750">
              <a:buFont typeface="Arial"/>
              <a:buChar char="•"/>
            </a:pPr>
            <a:r>
              <a:rPr lang="en-GB" sz="2000">
                <a:latin typeface="Aptos Display"/>
                <a:ea typeface="+mn-lt"/>
                <a:cs typeface="+mn-lt"/>
              </a:rPr>
              <a:t>Locating fault occurrence </a:t>
            </a:r>
            <a:endParaRPr lang="en-GB">
              <a:latin typeface="Aptos Display"/>
            </a:endParaRPr>
          </a:p>
          <a:p>
            <a:pPr marL="285750" indent="-285750">
              <a:buFont typeface="Arial"/>
              <a:buChar char="•"/>
            </a:pPr>
            <a:r>
              <a:rPr lang="en-GB" sz="2000">
                <a:latin typeface="Aptos Display"/>
                <a:ea typeface="+mn-lt"/>
                <a:cs typeface="+mn-lt"/>
              </a:rPr>
              <a:t>Predicting fault impact </a:t>
            </a:r>
            <a:endParaRPr lang="en-GB">
              <a:latin typeface="Aptos Display"/>
            </a:endParaRPr>
          </a:p>
          <a:p>
            <a:br>
              <a:rPr lang="en-US" dirty="0"/>
            </a:br>
            <a:endParaRPr lang="en-US" b="1">
              <a:latin typeface="Aptos Display"/>
            </a:endParaRPr>
          </a:p>
          <a:p>
            <a:r>
              <a:rPr lang="en-GB" b="1">
                <a:latin typeface="Aptos Display"/>
              </a:rPr>
              <a:t>Phase 5: User Interface Development</a:t>
            </a:r>
            <a:endParaRPr lang="en-US" b="1">
              <a:latin typeface="Aptos Display"/>
            </a:endParaRPr>
          </a:p>
          <a:p>
            <a:pPr marL="285750" indent="-285750">
              <a:buFont typeface="Arial"/>
              <a:buChar char="•"/>
            </a:pPr>
            <a:r>
              <a:rPr lang="en-GB" sz="2000">
                <a:latin typeface="Aptos Display"/>
                <a:ea typeface="+mn-lt"/>
                <a:cs typeface="+mn-lt"/>
              </a:rPr>
              <a:t>Create menu-driven interactive system </a:t>
            </a:r>
            <a:endParaRPr lang="en-GB">
              <a:latin typeface="Aptos Display"/>
            </a:endParaRPr>
          </a:p>
          <a:p>
            <a:pPr marL="285750" indent="-285750">
              <a:buFont typeface="Arial"/>
              <a:buChar char="•"/>
            </a:pPr>
            <a:r>
              <a:rPr lang="en-GB" sz="2000">
                <a:latin typeface="Aptos Display"/>
                <a:ea typeface="+mn-lt"/>
                <a:cs typeface="+mn-lt"/>
              </a:rPr>
              <a:t>Add options: </a:t>
            </a:r>
            <a:endParaRPr lang="en-GB">
              <a:latin typeface="Aptos Display"/>
            </a:endParaRPr>
          </a:p>
          <a:p>
            <a:pPr marL="742950" lvl="1" indent="-285750">
              <a:buFont typeface="Arial"/>
              <a:buChar char="•"/>
            </a:pPr>
            <a:r>
              <a:rPr lang="en-GB" sz="2000">
                <a:latin typeface="Aptos Display"/>
                <a:ea typeface="+mn-lt"/>
                <a:cs typeface="+mn-lt"/>
              </a:rPr>
              <a:t>Detect fault </a:t>
            </a:r>
            <a:endParaRPr lang="en-GB">
              <a:latin typeface="Aptos Display"/>
            </a:endParaRPr>
          </a:p>
          <a:p>
            <a:pPr marL="742950" lvl="1" indent="-285750">
              <a:buFont typeface="Arial"/>
              <a:buChar char="•"/>
            </a:pPr>
            <a:r>
              <a:rPr lang="en-GB" sz="2000">
                <a:latin typeface="Aptos Display"/>
                <a:ea typeface="+mn-lt"/>
                <a:cs typeface="+mn-lt"/>
              </a:rPr>
              <a:t>Show all fault types </a:t>
            </a:r>
            <a:endParaRPr lang="en-GB">
              <a:latin typeface="Aptos Display"/>
            </a:endParaRPr>
          </a:p>
          <a:p>
            <a:pPr marL="742950" lvl="1" indent="-285750">
              <a:buFont typeface="Arial"/>
              <a:buChar char="•"/>
            </a:pPr>
            <a:r>
              <a:rPr lang="en-GB" sz="2000">
                <a:latin typeface="Aptos Display"/>
                <a:ea typeface="+mn-lt"/>
                <a:cs typeface="+mn-lt"/>
              </a:rPr>
              <a:t>Exit system</a:t>
            </a:r>
            <a:endParaRPr lang="en-GB">
              <a:latin typeface="Aptos Display"/>
              <a:ea typeface="+mn-lt"/>
              <a:cs typeface="+mn-lt"/>
            </a:endParaRPr>
          </a:p>
          <a:p>
            <a:endParaRPr lang="en-GB" sz="2000" dirty="0">
              <a:latin typeface="Aptos Display"/>
            </a:endParaRPr>
          </a:p>
          <a:p>
            <a:pPr algn="l"/>
            <a:endParaRPr lang="en-GB" dirty="0"/>
          </a:p>
        </p:txBody>
      </p:sp>
    </p:spTree>
    <p:extLst>
      <p:ext uri="{BB962C8B-B14F-4D97-AF65-F5344CB8AC3E}">
        <p14:creationId xmlns:p14="http://schemas.microsoft.com/office/powerpoint/2010/main" val="28803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5D6ED-353B-8EE5-16BA-0977538275D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1FC58-B2B6-DFCF-7FCD-144D5A0766C9}"/>
              </a:ext>
            </a:extLst>
          </p:cNvPr>
          <p:cNvSpPr>
            <a:spLocks noGrp="1"/>
          </p:cNvSpPr>
          <p:nvPr>
            <p:ph type="sldNum" sz="quarter" idx="15"/>
          </p:nvPr>
        </p:nvSpPr>
        <p:spPr/>
        <p:txBody>
          <a:bodyPr/>
          <a:lstStyle/>
          <a:p>
            <a:fld id="{18D65601-5AE2-46FC-B138-694DDD2B510D}" type="slidenum">
              <a:rPr lang="en-US" smtClean="0"/>
              <a:pPr/>
              <a:t>7</a:t>
            </a:fld>
            <a:endParaRPr lang="en-US" dirty="0"/>
          </a:p>
        </p:txBody>
      </p:sp>
      <p:sp>
        <p:nvSpPr>
          <p:cNvPr id="9" name="TextBox 8">
            <a:extLst>
              <a:ext uri="{FF2B5EF4-FFF2-40B4-BE49-F238E27FC236}">
                <a16:creationId xmlns:a16="http://schemas.microsoft.com/office/drawing/2014/main" id="{971E24D6-2014-AB3C-F242-50074D628526}"/>
              </a:ext>
            </a:extLst>
          </p:cNvPr>
          <p:cNvSpPr txBox="1"/>
          <p:nvPr/>
        </p:nvSpPr>
        <p:spPr>
          <a:xfrm>
            <a:off x="1585575" y="1262303"/>
            <a:ext cx="10606424"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Display"/>
              </a:rPr>
              <a:t>Phase 6: AI Concepts Integration</a:t>
            </a:r>
            <a:endParaRPr lang="en-US" b="1">
              <a:latin typeface="Aptos Display"/>
            </a:endParaRPr>
          </a:p>
          <a:p>
            <a:r>
              <a:rPr lang="en-GB">
                <a:latin typeface="Aptos Display"/>
                <a:ea typeface="+mn-lt"/>
                <a:cs typeface="+mn-lt"/>
              </a:rPr>
              <a:t>Integrate syllabus topics:</a:t>
            </a:r>
            <a:endParaRPr lang="en-US">
              <a:latin typeface="Aptos Display"/>
              <a:ea typeface="+mn-lt"/>
              <a:cs typeface="+mn-lt"/>
            </a:endParaRPr>
          </a:p>
          <a:p>
            <a:pPr marL="285750" indent="-285750">
              <a:buFont typeface="Arial"/>
              <a:buChar char="•"/>
            </a:pPr>
            <a:r>
              <a:rPr lang="en-GB">
                <a:latin typeface="Aptos Display"/>
                <a:ea typeface="+mn-lt"/>
                <a:cs typeface="+mn-lt"/>
              </a:rPr>
              <a:t>PEAS agent model </a:t>
            </a:r>
            <a:endParaRPr lang="en-GB">
              <a:latin typeface="Aptos Display"/>
            </a:endParaRPr>
          </a:p>
          <a:p>
            <a:pPr marL="285750" indent="-285750">
              <a:buFont typeface="Arial"/>
              <a:buChar char="•"/>
            </a:pPr>
            <a:r>
              <a:rPr lang="en-GB">
                <a:latin typeface="Aptos Display"/>
                <a:ea typeface="+mn-lt"/>
                <a:cs typeface="+mn-lt"/>
              </a:rPr>
              <a:t>Heuristic reasoning </a:t>
            </a:r>
            <a:endParaRPr lang="en-GB">
              <a:latin typeface="Aptos Display"/>
            </a:endParaRPr>
          </a:p>
          <a:p>
            <a:pPr marL="285750" indent="-285750">
              <a:buFont typeface="Arial"/>
              <a:buChar char="•"/>
            </a:pPr>
            <a:r>
              <a:rPr lang="en-GB">
                <a:latin typeface="Aptos Display"/>
                <a:ea typeface="+mn-lt"/>
                <a:cs typeface="+mn-lt"/>
              </a:rPr>
              <a:t>Constraint satisfaction </a:t>
            </a:r>
            <a:endParaRPr lang="en-GB">
              <a:latin typeface="Aptos Display"/>
            </a:endParaRPr>
          </a:p>
          <a:p>
            <a:pPr marL="285750" indent="-285750">
              <a:buFont typeface="Arial"/>
              <a:buChar char="•"/>
            </a:pPr>
            <a:r>
              <a:rPr lang="en-GB">
                <a:latin typeface="Aptos Display"/>
                <a:ea typeface="+mn-lt"/>
                <a:cs typeface="+mn-lt"/>
              </a:rPr>
              <a:t>Decision-making </a:t>
            </a:r>
            <a:endParaRPr lang="en-GB">
              <a:latin typeface="Aptos Display"/>
            </a:endParaRPr>
          </a:p>
          <a:p>
            <a:pPr marL="285750" indent="-285750">
              <a:buFont typeface="Arial"/>
              <a:buChar char="•"/>
            </a:pPr>
            <a:r>
              <a:rPr lang="en-GB">
                <a:latin typeface="Aptos Display"/>
                <a:ea typeface="+mn-lt"/>
                <a:cs typeface="+mn-lt"/>
              </a:rPr>
              <a:t>Probability concepts </a:t>
            </a:r>
            <a:endParaRPr lang="en-GB">
              <a:latin typeface="Aptos Display"/>
            </a:endParaRPr>
          </a:p>
          <a:p>
            <a:pPr marL="285750" indent="-285750">
              <a:buFont typeface="Arial"/>
              <a:buChar char="•"/>
            </a:pPr>
            <a:r>
              <a:rPr lang="en-GB">
                <a:latin typeface="Aptos Display"/>
                <a:ea typeface="+mn-lt"/>
                <a:cs typeface="+mn-lt"/>
              </a:rPr>
              <a:t>Hybrid AI systems </a:t>
            </a:r>
            <a:endParaRPr lang="en-GB">
              <a:latin typeface="Aptos Display"/>
            </a:endParaRPr>
          </a:p>
          <a:p>
            <a:br>
              <a:rPr lang="en-US" dirty="0"/>
            </a:br>
            <a:endParaRPr lang="en-US" b="1">
              <a:latin typeface="Aptos Display"/>
            </a:endParaRPr>
          </a:p>
          <a:p>
            <a:r>
              <a:rPr lang="en-GB" b="1">
                <a:latin typeface="Aptos Display"/>
              </a:rPr>
              <a:t>Phase 7: Testing &amp; Validation</a:t>
            </a:r>
          </a:p>
          <a:p>
            <a:pPr marL="285750" indent="-285750">
              <a:buFont typeface="Arial"/>
              <a:buChar char="•"/>
            </a:pPr>
            <a:r>
              <a:rPr lang="en-GB">
                <a:latin typeface="Aptos Display"/>
                <a:ea typeface="+mn-lt"/>
                <a:cs typeface="+mn-lt"/>
              </a:rPr>
              <a:t>Test with different sensor values </a:t>
            </a:r>
            <a:endParaRPr lang="en-GB">
              <a:latin typeface="Aptos Display"/>
            </a:endParaRPr>
          </a:p>
          <a:p>
            <a:pPr marL="285750" indent="-285750">
              <a:buFont typeface="Arial"/>
              <a:buChar char="•"/>
            </a:pPr>
            <a:r>
              <a:rPr lang="en-GB">
                <a:latin typeface="Aptos Display"/>
                <a:ea typeface="+mn-lt"/>
                <a:cs typeface="+mn-lt"/>
              </a:rPr>
              <a:t>Validate fault predictions </a:t>
            </a:r>
            <a:endParaRPr lang="en-GB">
              <a:latin typeface="Aptos Display"/>
            </a:endParaRPr>
          </a:p>
          <a:p>
            <a:pPr marL="285750" indent="-285750">
              <a:buFont typeface="Arial"/>
              <a:buChar char="•"/>
            </a:pPr>
            <a:r>
              <a:rPr lang="en-GB" dirty="0" err="1">
                <a:latin typeface="Aptos Display"/>
                <a:ea typeface="+mn-lt"/>
                <a:cs typeface="+mn-lt"/>
              </a:rPr>
              <a:t>Analyze</a:t>
            </a:r>
            <a:r>
              <a:rPr lang="en-GB" dirty="0">
                <a:latin typeface="Aptos Display"/>
                <a:ea typeface="+mn-lt"/>
                <a:cs typeface="+mn-lt"/>
              </a:rPr>
              <a:t> output correctness </a:t>
            </a:r>
            <a:endParaRPr lang="en-GB" dirty="0">
              <a:latin typeface="Aptos Display"/>
            </a:endParaRPr>
          </a:p>
          <a:p>
            <a:pPr marL="285750" indent="-285750">
              <a:buFont typeface="Arial"/>
              <a:buChar char="•"/>
            </a:pPr>
            <a:r>
              <a:rPr lang="en-GB">
                <a:latin typeface="Aptos Display"/>
                <a:ea typeface="+mn-lt"/>
                <a:cs typeface="+mn-lt"/>
              </a:rPr>
              <a:t>Improve rule accuracy </a:t>
            </a:r>
            <a:endParaRPr lang="en-GB">
              <a:latin typeface="Aptos Display"/>
            </a:endParaRPr>
          </a:p>
          <a:p>
            <a:endParaRPr lang="en-GB" b="1" dirty="0">
              <a:latin typeface="Aptos Display"/>
              <a:ea typeface="+mn-lt"/>
              <a:cs typeface="+mn-lt"/>
            </a:endParaRPr>
          </a:p>
          <a:p>
            <a:endParaRPr lang="en-GB" sz="2000" dirty="0">
              <a:latin typeface="Aptos Display"/>
            </a:endParaRPr>
          </a:p>
          <a:p>
            <a:pPr algn="l"/>
            <a:endParaRPr lang="en-GB" dirty="0"/>
          </a:p>
        </p:txBody>
      </p:sp>
    </p:spTree>
    <p:extLst>
      <p:ext uri="{BB962C8B-B14F-4D97-AF65-F5344CB8AC3E}">
        <p14:creationId xmlns:p14="http://schemas.microsoft.com/office/powerpoint/2010/main" val="2017948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6866-F6BC-AE06-A015-1241A00E3CE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A6A0239-0492-91EA-E6BD-591844F32A02}"/>
              </a:ext>
            </a:extLst>
          </p:cNvPr>
          <p:cNvSpPr>
            <a:spLocks noGrp="1"/>
          </p:cNvSpPr>
          <p:nvPr>
            <p:ph type="sldNum" sz="quarter" idx="15"/>
          </p:nvPr>
        </p:nvSpPr>
        <p:spPr/>
        <p:txBody>
          <a:bodyPr/>
          <a:lstStyle/>
          <a:p>
            <a:fld id="{18D65601-5AE2-46FC-B138-694DDD2B510D}" type="slidenum">
              <a:rPr lang="en-US" smtClean="0"/>
              <a:pPr/>
              <a:t>8</a:t>
            </a:fld>
            <a:endParaRPr lang="en-US" dirty="0"/>
          </a:p>
        </p:txBody>
      </p:sp>
      <p:sp>
        <p:nvSpPr>
          <p:cNvPr id="9" name="TextBox 8">
            <a:extLst>
              <a:ext uri="{FF2B5EF4-FFF2-40B4-BE49-F238E27FC236}">
                <a16:creationId xmlns:a16="http://schemas.microsoft.com/office/drawing/2014/main" id="{6577CFD5-A4AE-72C4-4A40-3048622E4B2E}"/>
              </a:ext>
            </a:extLst>
          </p:cNvPr>
          <p:cNvSpPr txBox="1"/>
          <p:nvPr/>
        </p:nvSpPr>
        <p:spPr>
          <a:xfrm>
            <a:off x="1585575" y="1262303"/>
            <a:ext cx="10606424"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Aptos Display"/>
              </a:rPr>
              <a:t>Phase 8: Documentation &amp; Presentation</a:t>
            </a:r>
            <a:endParaRPr lang="en-US" b="1">
              <a:latin typeface="Aptos Display"/>
            </a:endParaRPr>
          </a:p>
          <a:p>
            <a:pPr marL="285750" indent="-285750">
              <a:buFont typeface="Arial"/>
              <a:buChar char="•"/>
            </a:pPr>
            <a:r>
              <a:rPr lang="en-GB">
                <a:latin typeface="Aptos Display"/>
                <a:ea typeface="+mn-lt"/>
                <a:cs typeface="+mn-lt"/>
              </a:rPr>
              <a:t>Prepare abstract </a:t>
            </a:r>
            <a:endParaRPr lang="en-GB">
              <a:latin typeface="Aptos Display"/>
            </a:endParaRPr>
          </a:p>
          <a:p>
            <a:pPr marL="285750" indent="-285750">
              <a:buFont typeface="Arial"/>
              <a:buChar char="•"/>
            </a:pPr>
            <a:r>
              <a:rPr lang="en-GB">
                <a:latin typeface="Aptos Display"/>
                <a:ea typeface="+mn-lt"/>
                <a:cs typeface="+mn-lt"/>
              </a:rPr>
              <a:t>Create report </a:t>
            </a:r>
            <a:endParaRPr lang="en-GB">
              <a:latin typeface="Aptos Display"/>
            </a:endParaRPr>
          </a:p>
          <a:p>
            <a:pPr marL="285750" indent="-285750">
              <a:buFont typeface="Arial"/>
              <a:buChar char="•"/>
            </a:pPr>
            <a:r>
              <a:rPr lang="en-GB">
                <a:latin typeface="Aptos Display"/>
                <a:ea typeface="+mn-lt"/>
                <a:cs typeface="+mn-lt"/>
              </a:rPr>
              <a:t>Design PPT slides </a:t>
            </a:r>
            <a:endParaRPr lang="en-GB">
              <a:latin typeface="Aptos Display"/>
            </a:endParaRPr>
          </a:p>
          <a:p>
            <a:pPr marL="285750" indent="-285750">
              <a:buFont typeface="Arial"/>
              <a:buChar char="•"/>
            </a:pPr>
            <a:r>
              <a:rPr lang="en-GB">
                <a:latin typeface="Aptos Display"/>
                <a:ea typeface="+mn-lt"/>
                <a:cs typeface="+mn-lt"/>
              </a:rPr>
              <a:t>Demonstrate working model</a:t>
            </a:r>
            <a:endParaRPr lang="en-GB">
              <a:latin typeface="Aptos Display"/>
            </a:endParaRPr>
          </a:p>
          <a:p>
            <a:endParaRPr lang="en-GB" b="1" dirty="0">
              <a:latin typeface="Aptos Display"/>
            </a:endParaRPr>
          </a:p>
          <a:p>
            <a:endParaRPr lang="en-GB" b="1" dirty="0">
              <a:latin typeface="Aptos Display"/>
              <a:ea typeface="+mn-lt"/>
              <a:cs typeface="+mn-lt"/>
            </a:endParaRPr>
          </a:p>
          <a:p>
            <a:endParaRPr lang="en-GB" sz="2000" dirty="0">
              <a:latin typeface="Aptos Display"/>
            </a:endParaRPr>
          </a:p>
          <a:p>
            <a:pPr algn="l"/>
            <a:endParaRPr lang="en-GB" dirty="0"/>
          </a:p>
        </p:txBody>
      </p:sp>
    </p:spTree>
    <p:extLst>
      <p:ext uri="{BB962C8B-B14F-4D97-AF65-F5344CB8AC3E}">
        <p14:creationId xmlns:p14="http://schemas.microsoft.com/office/powerpoint/2010/main" val="63895887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DD27D0-5B6E-4A0E-95B2-BB37F9D8861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98CD342-50C4-441F-B4A3-7D5ADB057132}">
  <ds:schemaRefs>
    <ds:schemaRef ds:uri="http://schemas.microsoft.com/sharepoint/v3/contenttype/forms"/>
  </ds:schemaRefs>
</ds:datastoreItem>
</file>

<file path=customXml/itemProps3.xml><?xml version="1.0" encoding="utf-8"?>
<ds:datastoreItem xmlns:ds="http://schemas.openxmlformats.org/officeDocument/2006/customXml" ds:itemID="{3FAE0208-DBD5-43E1-AC6B-D2AD9623F0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419</Words>
  <Application>Microsoft Office PowerPoint</Application>
  <PresentationFormat>Widescreen</PresentationFormat>
  <Paragraphs>118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Custom</vt:lpstr>
      <vt:lpstr> Fault Diagnosis in Industrial Systems </vt:lpstr>
      <vt:lpstr>Abstract:</vt:lpstr>
      <vt:lpstr>PowerPoint Presentation</vt:lpstr>
      <vt:lpstr>Plan of Action: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83</cp:revision>
  <dcterms:created xsi:type="dcterms:W3CDTF">2026-05-19T07:22:13Z</dcterms:created>
  <dcterms:modified xsi:type="dcterms:W3CDTF">2026-06-02T08:52:55Z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